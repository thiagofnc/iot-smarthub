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22"/>
  </p:notesMasterIdLst>
  <p:handoutMasterIdLst>
    <p:handoutMasterId r:id="rId23"/>
  </p:handoutMasterIdLst>
  <p:sldIdLst>
    <p:sldId id="260" r:id="rId5"/>
    <p:sldId id="261" r:id="rId6"/>
    <p:sldId id="262" r:id="rId7"/>
    <p:sldId id="263" r:id="rId8"/>
    <p:sldId id="277" r:id="rId9"/>
    <p:sldId id="270" r:id="rId10"/>
    <p:sldId id="268" r:id="rId11"/>
    <p:sldId id="271" r:id="rId12"/>
    <p:sldId id="272" r:id="rId13"/>
    <p:sldId id="273" r:id="rId14"/>
    <p:sldId id="275" r:id="rId15"/>
    <p:sldId id="264" r:id="rId16"/>
    <p:sldId id="265" r:id="rId17"/>
    <p:sldId id="274" r:id="rId18"/>
    <p:sldId id="266" r:id="rId19"/>
    <p:sldId id="27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8C523-2E79-05B4-9DCE-365BFDE4E24A}" v="182" dt="2026-05-22T00:02:54.575"/>
    <p1510:client id="{3E94A175-F92B-5856-B3B9-7B9ACE5C5E2C}" v="10" dt="2026-05-22T00:17:24.616"/>
    <p1510:client id="{EBEB7964-7497-5C3D-71F8-2E7EA43AF03C}" v="62" dt="2026-05-22T00:14:24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 or introduction provides title of presentation and member names</a:t>
            </a:r>
            <a:endParaRPr lang="en-US">
              <a:highlight>
                <a:srgbClr val="FFFFFF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  <a:p>
            <a:pPr marL="1543050" lvl="3" indent="-171450">
              <a:buFont typeface="Arial"/>
              <a:buChar char="•"/>
            </a:pPr>
            <a:r>
              <a:rPr lang="en-US">
                <a:highlight>
                  <a:srgbClr val="FFFFFF"/>
                </a:highlight>
              </a:rPr>
              <a:t>motivation/problem statement and project overview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Change the 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19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 and strategy</a:t>
            </a:r>
          </a:p>
          <a:p>
            <a:pPr marL="342900" lvl="3" indent="-342900">
              <a:buChar char="•"/>
            </a:pPr>
            <a:r>
              <a:rPr lang="en-US">
                <a:highlight>
                  <a:srgbClr val="FFFFFF"/>
                </a:highlight>
              </a:rPr>
              <a:t>evaluation of design options </a:t>
            </a:r>
          </a:p>
          <a:p>
            <a:pPr marL="342900" lvl="3" indent="-342900">
              <a:buChar char="•"/>
            </a:pPr>
            <a:r>
              <a:rPr lang="en-US">
                <a:highlight>
                  <a:srgbClr val="FFFFFF"/>
                </a:highlight>
              </a:rPr>
              <a:t>design decisions and overview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69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power measurements and lifetime calculation</a:t>
            </a:r>
            <a:endParaRPr lang="en-US">
              <a:highlight>
                <a:srgbClr val="FFFFFF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23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evaluation and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51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summary and conclusions </a:t>
            </a:r>
            <a:endParaRPr lang="en-US">
              <a:highlight>
                <a:srgbClr val="FFFFFF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17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8210-0D25-3234-BC9D-DFD4A38A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D6C49-EB87-3C8E-8091-4E8BF6728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8405D-BC87-EE1D-0DCC-B65B2F86B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summary and conclusions </a:t>
            </a:r>
            <a:endParaRPr lang="en-US">
              <a:highlight>
                <a:srgbClr val="FFFFFF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DE85F-E2C5-AF6E-9595-ED22661DF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49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  <a:p>
            <a:pPr marL="342900" lvl="3" indent="-342900">
              <a:buChar char="•"/>
            </a:pPr>
            <a:r>
              <a:rPr lang="en-US">
                <a:highlight>
                  <a:srgbClr val="FFFFFF"/>
                </a:highlight>
              </a:rPr>
              <a:t>lessons learned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1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heltec.org/" TargetMode="External"/><Relationship Id="rId3" Type="http://schemas.openxmlformats.org/officeDocument/2006/relationships/hyperlink" Target="https://lvgl.io/" TargetMode="External"/><Relationship Id="rId7" Type="http://schemas.openxmlformats.org/officeDocument/2006/relationships/hyperlink" Target="https://www.elecrow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rduino.cc/" TargetMode="External"/><Relationship Id="rId5" Type="http://schemas.openxmlformats.org/officeDocument/2006/relationships/hyperlink" Target="https://openweathermap.org/api" TargetMode="External"/><Relationship Id="rId4" Type="http://schemas.openxmlformats.org/officeDocument/2006/relationships/hyperlink" Target="https://github.com/lovyan03/LovyanGF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8250" y="2977551"/>
            <a:ext cx="5949350" cy="1295400"/>
          </a:xfrm>
        </p:spPr>
        <p:txBody>
          <a:bodyPr>
            <a:normAutofit fontScale="90000"/>
          </a:bodyPr>
          <a:lstStyle/>
          <a:p>
            <a:r>
              <a:rPr lang="en-US" dirty="0"/>
              <a:t>Smart-Hub </a:t>
            </a:r>
            <a:r>
              <a:rPr lang="en-US"/>
              <a:t>dashboard Device</a:t>
            </a:r>
            <a:br>
              <a:rPr lang="en-US" dirty="0"/>
            </a:br>
            <a:r>
              <a:rPr lang="en-US"/>
              <a:t>ece436-Internet of things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r>
              <a:rPr lang="en-US" dirty="0"/>
              <a:t>By Thiago, </a:t>
            </a:r>
            <a:r>
              <a:rPr lang="en-US"/>
              <a:t>Johannes and Anar</a:t>
            </a: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61C2-0906-FBD8-8E4C-DFD67A77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B0A9-FD95-5DEF-DB9F-482825144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en-US"/>
              <a:t>Motivation/Problem: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 IoT based project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User friendly dashboard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Multiple functionalities into single Smart-Hub device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/>
              <a:t>Project overview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Display: 7-inch display with built in ESP32.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Communication Technologies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/>
              <a:t>BLE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/>
              <a:t>LoRa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/>
              <a:t>Wi-Fi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System Architecture including using multiple ESP32 microcontroller.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Camera-based hand gesture interaction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Environmental sensor monitoring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Remote dashboard interaction</a:t>
            </a:r>
            <a:endParaRPr lang="en-US"/>
          </a:p>
          <a:p>
            <a:pPr marL="457200" lvl="2" indent="0">
              <a:buNone/>
            </a:pPr>
            <a:endParaRPr lang="en-US"/>
          </a:p>
        </p:txBody>
      </p:sp>
      <p:pic>
        <p:nvPicPr>
          <p:cNvPr id="5" name="Picture 4" descr="A computer monitor with wires&#10;&#10;AI-generated content may be incorrect.">
            <a:extLst>
              <a:ext uri="{FF2B5EF4-FFF2-40B4-BE49-F238E27FC236}">
                <a16:creationId xmlns:a16="http://schemas.microsoft.com/office/drawing/2014/main" id="{B3C77330-C4E3-BE9D-5F82-1F293A91C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893" y="669905"/>
            <a:ext cx="3513426" cy="54932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974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80E9-CC27-A2C1-2C5B-EDA5087A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/>
          <a:p>
            <a:r>
              <a:rPr lang="en-US"/>
              <a:t>Method and strategy-Our First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01482-BB3B-B71E-3CA4-AF88C6D80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1503420"/>
            <a:ext cx="4230787" cy="3336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Design Options:</a:t>
            </a:r>
          </a:p>
          <a:p>
            <a:r>
              <a:rPr lang="en-US" dirty="0">
                <a:ea typeface="+mn-lt"/>
                <a:cs typeface="+mn-lt"/>
              </a:rPr>
              <a:t>• Initial modular </a:t>
            </a:r>
            <a:r>
              <a:rPr lang="en-US" dirty="0" err="1">
                <a:ea typeface="+mn-lt"/>
                <a:cs typeface="+mn-lt"/>
              </a:rPr>
              <a:t>SmartHub</a:t>
            </a:r>
            <a:r>
              <a:rPr lang="en-US" dirty="0">
                <a:ea typeface="+mn-lt"/>
                <a:cs typeface="+mn-lt"/>
              </a:rPr>
              <a:t> concept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• Multiple ESP32 subsystem approach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Wireless communication integration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Expandable architecture design</a:t>
            </a:r>
            <a:endParaRPr lang="en-US"/>
          </a:p>
          <a:p>
            <a:endParaRPr lang="en-US"/>
          </a:p>
        </p:txBody>
      </p:sp>
      <p:pic>
        <p:nvPicPr>
          <p:cNvPr id="4" name="Picture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3F6D5D2A-5F88-0E29-108C-842F8446F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483" y="876717"/>
            <a:ext cx="6165717" cy="50867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325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4CE3-9AAF-9C9E-2693-11441B5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Method and strategy-Architecture</a:t>
            </a:r>
            <a:endParaRPr lang="en-US" sz="200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B375143B-BA8D-DDD9-A708-684B5DA1D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851" y="1393484"/>
            <a:ext cx="100774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5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10A9E-13FD-6F19-DB64-EF85B8C7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9ED6-5ED0-498C-5678-AED9FBE7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687" y="572965"/>
            <a:ext cx="11609015" cy="3325532"/>
          </a:xfrm>
        </p:spPr>
        <p:txBody>
          <a:bodyPr anchor="t">
            <a:normAutofit/>
          </a:bodyPr>
          <a:lstStyle/>
          <a:p>
            <a:r>
              <a:rPr lang="en-US" dirty="0"/>
              <a:t>Method and strategy-Architecture</a:t>
            </a:r>
            <a:br>
              <a:rPr lang="en-US" dirty="0"/>
            </a:br>
            <a:r>
              <a:rPr lang="en-US"/>
              <a:t>The main hub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/>
          </a:p>
        </p:txBody>
      </p:sp>
      <p:pic>
        <p:nvPicPr>
          <p:cNvPr id="6" name="Picture 5" descr="A circuit board with a screen and text&#10;&#10;AI-generated content may be incorrect.">
            <a:extLst>
              <a:ext uri="{FF2B5EF4-FFF2-40B4-BE49-F238E27FC236}">
                <a16:creationId xmlns:a16="http://schemas.microsoft.com/office/drawing/2014/main" id="{CFF64D73-F08D-1615-08C7-78D46CD5F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477" y="2460713"/>
            <a:ext cx="5101652" cy="3642475"/>
          </a:xfrm>
          <a:prstGeom prst="rect">
            <a:avLst/>
          </a:prstGeom>
          <a:noFill/>
        </p:spPr>
      </p:pic>
      <p:pic>
        <p:nvPicPr>
          <p:cNvPr id="3" name="Picture 2" descr="A small red and black device with a silver handle&#10;&#10;AI-generated content may be incorrect.">
            <a:extLst>
              <a:ext uri="{FF2B5EF4-FFF2-40B4-BE49-F238E27FC236}">
                <a16:creationId xmlns:a16="http://schemas.microsoft.com/office/drawing/2014/main" id="{AA12FC31-1B86-9646-F004-D0162330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93" y="2867133"/>
            <a:ext cx="2537029" cy="1713063"/>
          </a:xfrm>
          <a:prstGeom prst="rect">
            <a:avLst/>
          </a:prstGeom>
        </p:spPr>
      </p:pic>
      <p:pic>
        <p:nvPicPr>
          <p:cNvPr id="4" name="Picture 3" descr="A screen shot of a phone&#10;&#10;AI-generated content may be incorrect.">
            <a:extLst>
              <a:ext uri="{FF2B5EF4-FFF2-40B4-BE49-F238E27FC236}">
                <a16:creationId xmlns:a16="http://schemas.microsoft.com/office/drawing/2014/main" id="{1AE8AACB-2D83-52E0-B093-F4350AF58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180" y="2424292"/>
            <a:ext cx="2587566" cy="14630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A small electronic device with a black circle&#10;&#10;AI-generated content may be incorrect.">
            <a:extLst>
              <a:ext uri="{FF2B5EF4-FFF2-40B4-BE49-F238E27FC236}">
                <a16:creationId xmlns:a16="http://schemas.microsoft.com/office/drawing/2014/main" id="{56CB1DB1-062B-67AF-6A14-0BA83354E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538" y="4471358"/>
            <a:ext cx="2551982" cy="17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3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8E27-5C52-754B-1D4D-08B230E0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and strategy-Communication </a:t>
            </a:r>
            <a:br>
              <a:rPr lang="en-US"/>
            </a:br>
            <a:r>
              <a:rPr lang="en-US"/>
              <a:t>Technologies</a:t>
            </a:r>
          </a:p>
          <a:p>
            <a:endParaRPr lang="en-US" sz="2000"/>
          </a:p>
          <a:p>
            <a:endParaRPr lang="en-US" sz="2000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19988-AE0C-BEF0-3715-240836DB9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740135"/>
            <a:ext cx="6460737" cy="4739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Lora Communication</a:t>
            </a:r>
          </a:p>
          <a:p>
            <a:r>
              <a:rPr lang="en-US">
                <a:ea typeface="+mn-lt"/>
                <a:cs typeface="+mn-lt"/>
              </a:rPr>
              <a:t>Operates at 915 MHz using SX1262 LoRa transceivers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Provides long-distance wireless communication 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One ESP32 acts as the LoRa transmitter node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One ESP32 acts as the </a:t>
            </a:r>
            <a:r>
              <a:rPr lang="en-US" dirty="0" err="1">
                <a:ea typeface="+mn-lt"/>
                <a:cs typeface="+mn-lt"/>
              </a:rPr>
              <a:t>SmartHub</a:t>
            </a:r>
            <a:r>
              <a:rPr lang="en-US" dirty="0">
                <a:ea typeface="+mn-lt"/>
                <a:cs typeface="+mn-lt"/>
              </a:rPr>
              <a:t> receiver node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Transmitter sends environmental sensor data packets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Receiver continuously listens for incoming LoRa packets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Packet Delivery Ratio (PDR) testing completed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• Reliable communication up to 100 meters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RSSI and SNR monitoring implemented</a:t>
            </a:r>
            <a:endParaRPr lang="en-US"/>
          </a:p>
          <a:p>
            <a:endParaRPr lang="en-US"/>
          </a:p>
        </p:txBody>
      </p:sp>
      <p:pic>
        <p:nvPicPr>
          <p:cNvPr id="4" name="Picture 3" descr="A long shot of a circuit board&#10;&#10;AI-generated content may be incorrect.">
            <a:extLst>
              <a:ext uri="{FF2B5EF4-FFF2-40B4-BE49-F238E27FC236}">
                <a16:creationId xmlns:a16="http://schemas.microsoft.com/office/drawing/2014/main" id="{079208B8-2DB9-EC23-382B-770C1563F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088" y="1795552"/>
            <a:ext cx="6461183" cy="40432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568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440A-C4FE-2C94-B7C3-D6B003AD8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978" y="4642450"/>
            <a:ext cx="6587550" cy="2209800"/>
          </a:xfrm>
        </p:spPr>
        <p:txBody>
          <a:bodyPr anchor="t">
            <a:normAutofit/>
          </a:bodyPr>
          <a:lstStyle/>
          <a:p>
            <a:r>
              <a:rPr lang="en-US" sz="1400">
                <a:ea typeface="+mj-lt"/>
                <a:cs typeface="+mj-lt"/>
              </a:rPr>
              <a:t>• BLE used for nearby device scanning</a:t>
            </a:r>
            <a:endParaRPr lang="en-US" sz="1400"/>
          </a:p>
          <a:p>
            <a:r>
              <a:rPr lang="en-US" sz="1400">
                <a:ea typeface="+mj-lt"/>
                <a:cs typeface="+mj-lt"/>
              </a:rPr>
              <a:t>• RSSI monitoring for nearby devices</a:t>
            </a:r>
            <a:endParaRPr lang="en-US" sz="1400"/>
          </a:p>
          <a:p>
            <a:r>
              <a:rPr lang="en-US" sz="1400">
                <a:ea typeface="+mj-lt"/>
                <a:cs typeface="+mj-lt"/>
              </a:rPr>
              <a:t>• Smartwatch detection support</a:t>
            </a:r>
            <a:endParaRPr lang="en-US" sz="1400"/>
          </a:p>
          <a:p>
            <a:r>
              <a:rPr lang="en-US" sz="1400">
                <a:ea typeface="+mj-lt"/>
                <a:cs typeface="+mj-lt"/>
              </a:rPr>
              <a:t>• Wi-Fi used for web server communication</a:t>
            </a:r>
            <a:endParaRPr lang="en-US" sz="1400"/>
          </a:p>
          <a:p>
            <a:r>
              <a:rPr lang="en-US" sz="1400">
                <a:ea typeface="+mj-lt"/>
                <a:cs typeface="+mj-lt"/>
              </a:rPr>
              <a:t>• Apple Shortcut battery updates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>
                <a:ea typeface="+mj-lt"/>
                <a:cs typeface="+mj-lt"/>
              </a:rPr>
              <a:t>• Remote dashboard interaction</a:t>
            </a:r>
            <a:endParaRPr lang="en-US" sz="1400"/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2811-40D0-19D7-35C9-9FA51E589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148" y="-173966"/>
            <a:ext cx="7208807" cy="22097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BLE and Wi-Fi communication</a:t>
            </a:r>
            <a:endParaRPr lang="en-US" sz="4000" dirty="0"/>
          </a:p>
          <a:p>
            <a:endParaRPr lang="en-US" sz="4000" dirty="0"/>
          </a:p>
        </p:txBody>
      </p:sp>
      <p:pic>
        <p:nvPicPr>
          <p:cNvPr id="4" name="Picture 3" descr="A close-up of a line&#10;&#10;AI-generated content may be incorrect.">
            <a:extLst>
              <a:ext uri="{FF2B5EF4-FFF2-40B4-BE49-F238E27FC236}">
                <a16:creationId xmlns:a16="http://schemas.microsoft.com/office/drawing/2014/main" id="{4E89B309-E24F-D99F-DB8D-C9AAAAA2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23" y="1558504"/>
            <a:ext cx="10539823" cy="28194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973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6EDA-574F-128E-8832-1A428F50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Method and strategy-Display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3ADDE-EC08-BCE7-80AE-9F19E76A3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Uses </a:t>
            </a:r>
            <a:r>
              <a:rPr lang="en-US" dirty="0" err="1">
                <a:ea typeface="+mn-lt"/>
                <a:cs typeface="+mn-lt"/>
              </a:rPr>
              <a:t>Elecrow</a:t>
            </a:r>
            <a:r>
              <a:rPr lang="en-US" dirty="0">
                <a:ea typeface="+mn-lt"/>
                <a:cs typeface="+mn-lt"/>
              </a:rPr>
              <a:t> 7-inch ESP32-S3 display module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Display interface built using LVGL and </a:t>
            </a:r>
            <a:r>
              <a:rPr lang="en-US" dirty="0" err="1">
                <a:ea typeface="+mn-lt"/>
                <a:cs typeface="+mn-lt"/>
              </a:rPr>
              <a:t>LovyanGFX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Replaced original small OLED display system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multiple dashboard UI pages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Displays weather information in real time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Displays music playback interface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Shows battery information for connected devices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Displays nearby BLE devices and RSSI values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portrait and landscape screen layouts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Integrated with </a:t>
            </a:r>
            <a:r>
              <a:rPr lang="en-US" dirty="0" err="1">
                <a:ea typeface="+mn-lt"/>
                <a:cs typeface="+mn-lt"/>
              </a:rPr>
              <a:t>SmartHub</a:t>
            </a:r>
            <a:r>
              <a:rPr lang="en-US" dirty="0">
                <a:ea typeface="+mn-lt"/>
                <a:cs typeface="+mn-lt"/>
              </a:rPr>
              <a:t> dashboard architecture for real-time updates</a:t>
            </a:r>
            <a:endParaRPr lang="en-US" dirty="0"/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4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EB33-2BE1-C378-32CC-5E8B735F7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anchor="t">
            <a:normAutofit/>
          </a:bodyPr>
          <a:lstStyle/>
          <a:p>
            <a:r>
              <a:rPr lang="en-US"/>
              <a:t>Method and </a:t>
            </a:r>
            <a:r>
              <a:rPr lang="en-US" err="1"/>
              <a:t>strateg</a:t>
            </a:r>
            <a:r>
              <a:rPr lang="en-US"/>
              <a:t>- Camera and Hand gesture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295C6B9-5CF3-FBF6-DE8F-0266EB781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7372" y="3699043"/>
            <a:ext cx="5418828" cy="2362450"/>
          </a:xfrm>
        </p:spPr>
        <p:txBody>
          <a:bodyPr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10" name="Content Placeholder 9" descr="A person making a hand gesture&#10;&#10;AI-generated content may be incorrect.">
            <a:extLst>
              <a:ext uri="{FF2B5EF4-FFF2-40B4-BE49-F238E27FC236}">
                <a16:creationId xmlns:a16="http://schemas.microsoft.com/office/drawing/2014/main" id="{4A9AE5CA-3A87-A641-3576-91C09CD5FD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60" r="7365"/>
          <a:stretch>
            <a:fillRect/>
          </a:stretch>
        </p:blipFill>
        <p:spPr>
          <a:xfrm>
            <a:off x="678871" y="609600"/>
            <a:ext cx="4935358" cy="563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849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F1A2-DDB6-391C-E6BC-50144F7F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Method and strategy-Camera and Hand gesture</a:t>
            </a:r>
            <a:endParaRPr lang="en-US" sz="400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ACA55-E142-0DD6-5145-E9E92BE34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2195209"/>
            <a:ext cx="10827328" cy="43322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Uses </a:t>
            </a:r>
            <a:r>
              <a:rPr lang="en-US" err="1">
                <a:ea typeface="+mn-lt"/>
                <a:cs typeface="+mn-lt"/>
              </a:rPr>
              <a:t>Seeed</a:t>
            </a:r>
            <a:r>
              <a:rPr lang="en-US">
                <a:ea typeface="+mn-lt"/>
                <a:cs typeface="+mn-lt"/>
              </a:rPr>
              <a:t> Studio XIAO ESP32S3 Sense camera module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real-time hand gesture recognition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 dataset collected and trained using Edge Impulse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Camera captures 96×96 grayscale images for reduced memory usage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Recognizes gestures such as LEFT, RIGHT, UP, and DOWN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Gesture system used for automatic screen rotation control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Current hand gesture model accuracy is approximately 92.9%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centroid-based movement tracking for gesture detection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5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0F9C-35B2-BCF6-3488-713A9FDD8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anchor="b">
            <a:normAutofit/>
          </a:bodyPr>
          <a:lstStyle/>
          <a:p>
            <a:r>
              <a:rPr lang="en-US"/>
              <a:t>Web Server and Remote Controller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24656DB-3E2B-FD65-AE32-E222E8CD0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smart hub control&#10;&#10;AI-generated content may be incorrect.">
            <a:extLst>
              <a:ext uri="{FF2B5EF4-FFF2-40B4-BE49-F238E27FC236}">
                <a16:creationId xmlns:a16="http://schemas.microsoft.com/office/drawing/2014/main" id="{E3466B1C-7E76-5755-4FF4-A78CF98C9BF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r="4344"/>
          <a:stretch>
            <a:fillRect/>
          </a:stretch>
        </p:blipFill>
        <p:spPr>
          <a:xfrm>
            <a:off x="678871" y="609600"/>
            <a:ext cx="4935358" cy="563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060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9748-F1F5-D2A4-789C-28B5BE84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venir Next LT Pro"/>
                <a:ea typeface="Calibri"/>
                <a:cs typeface="Calibri"/>
              </a:rPr>
              <a:t>Power measurements and lifetime 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7A5D-615A-DDCA-A539-FD0D02FD6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Power analysis performed for </a:t>
            </a:r>
            <a:r>
              <a:rPr lang="en-US" err="1">
                <a:ea typeface="+mn-lt"/>
                <a:cs typeface="+mn-lt"/>
              </a:rPr>
              <a:t>SmartHub</a:t>
            </a:r>
            <a:r>
              <a:rPr lang="en-US">
                <a:ea typeface="+mn-lt"/>
                <a:cs typeface="+mn-lt"/>
              </a:rPr>
              <a:t> receiver, LoRa node, and servo subsystem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SmartHub</a:t>
            </a:r>
            <a:r>
              <a:rPr lang="en-US">
                <a:ea typeface="+mn-lt"/>
                <a:cs typeface="+mn-lt"/>
              </a:rPr>
              <a:t> receiver includes display, Wi-Fi, and web server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SmartHub</a:t>
            </a:r>
            <a:r>
              <a:rPr lang="en-US">
                <a:ea typeface="+mn-lt"/>
                <a:cs typeface="+mn-lt"/>
              </a:rPr>
              <a:t> receiver consumes approximately 470 mA continuously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High current draw mainly caused by large display and Wi-Fi activity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SmartHub</a:t>
            </a:r>
            <a:r>
              <a:rPr lang="en-US">
                <a:ea typeface="+mn-lt"/>
                <a:cs typeface="+mn-lt"/>
              </a:rPr>
              <a:t> receiver currently powered using dedicated 5V wall supply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Servo motor current peaks reached up to 8.2 A during rotation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Average servo motor current during movement is approximately 2.44 A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LoRa transmitter consumes approximately 129 mA during transmission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LoRa node deep sleep current is approximately 0.5 mA for low-power operation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Estimated battery lifetime for LoRa transmitter is approximately 52 days using a 2000 </a:t>
            </a:r>
            <a:r>
              <a:rPr lang="en-US" err="1">
                <a:ea typeface="+mn-lt"/>
                <a:cs typeface="+mn-lt"/>
              </a:rPr>
              <a:t>mAh</a:t>
            </a:r>
            <a:r>
              <a:rPr lang="en-US">
                <a:ea typeface="+mn-lt"/>
                <a:cs typeface="+mn-lt"/>
              </a:rPr>
              <a:t> battery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3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19A2-9671-4AA9-E274-19EC4AE7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>
            <a:normAutofit/>
          </a:bodyPr>
          <a:lstStyle/>
          <a:p>
            <a:r>
              <a:rPr lang="en-US"/>
              <a:t>Evaluation and Verification-LoRa Communication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A22DBAD-4743-E4B0-C75A-0CD2FE47F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/>
          <a:lstStyle/>
          <a:p>
            <a:r>
              <a:rPr lang="en-US"/>
              <a:t>Received power plot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27A82AF-7BD9-B572-1F05-1F724F5D5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/>
          <a:lstStyle/>
          <a:p>
            <a:r>
              <a:rPr lang="en-US" dirty="0"/>
              <a:t>Packet </a:t>
            </a:r>
            <a:r>
              <a:rPr lang="en-US"/>
              <a:t>delivery ratio </a:t>
            </a:r>
            <a:endParaRPr lang="en-US" dirty="0"/>
          </a:p>
        </p:txBody>
      </p:sp>
      <p:pic>
        <p:nvPicPr>
          <p:cNvPr id="4" name="Content Placeholder 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3795239-E0C8-6730-C697-696C945404B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l="8886" r="2" b="2"/>
          <a:stretch>
            <a:fillRect/>
          </a:stretch>
        </p:blipFill>
        <p:spPr>
          <a:xfrm>
            <a:off x="680459" y="2788468"/>
            <a:ext cx="5145670" cy="3388494"/>
          </a:xfrm>
          <a:prstGeom prst="rect">
            <a:avLst/>
          </a:prstGeom>
          <a:noFill/>
        </p:spPr>
      </p:pic>
      <p:pic>
        <p:nvPicPr>
          <p:cNvPr id="5" name="Picture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5131A70-A7B8-BBBB-6826-B007D6C33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364" b="1"/>
          <a:stretch>
            <a:fillRect/>
          </a:stretch>
        </p:blipFill>
        <p:spPr>
          <a:xfrm>
            <a:off x="6365871" y="2788468"/>
            <a:ext cx="5140177" cy="3388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887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8E42-A4AB-BC6A-6275-AB6EFE95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Evaluation and Verification-hand gesture camera</a:t>
            </a:r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50D8A044-F7A5-F6FD-CFE1-778428DA65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85497" y="2504316"/>
            <a:ext cx="10827329" cy="21383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8793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F614-C064-72C3-F799-1587028B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9ADA-F371-409B-E9B2-2398FD67F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</a:t>
            </a:r>
            <a:r>
              <a:rPr lang="en-US" err="1">
                <a:ea typeface="+mn-lt"/>
                <a:cs typeface="+mn-lt"/>
              </a:rPr>
              <a:t>SmartHub</a:t>
            </a:r>
            <a:r>
              <a:rPr lang="en-US">
                <a:ea typeface="+mn-lt"/>
                <a:cs typeface="+mn-lt"/>
              </a:rPr>
              <a:t> project uses multiple ESP32 devices with LoRa, BLE, and Wi-Fi communication technologies to create a student-focused smart dashboard.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system displays weather, music playback, battery information, BLE devices, temperature, humidity, and other real-time data.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LoRa communication provides reliable long-distance wireless transmission between ESP32 nodes for environmental sensor monitoring.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BLE is used for nearby device scanning and smartwatch communication, while Wi-Fi enables web server access and remote interaction.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project includes a 7-inch ESP32 display, camera-based gesture recognition, automatic screen rotation, and web-based control features.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Power analysis and subsystem integration were completed to improve system reliability and optimize battery usage.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72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0C43A-FB23-B628-7E50-5F21614C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70F8-648A-5837-B178-C0C8986C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learned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31DD-10F9-1624-90F1-1E6367BED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Large IoT systems require modular subsystem design for easier integration and debugging.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LoRa, BLE, and Wi-Fi each provide different advantages depending on communication range and power requirements.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Isolated power domains are important for preventing ESP32 brownout resets and improving system reliability.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Deep sleep operation greatly improves battery lifetime for remote sensor nodes.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Embedded machine learning requires balancing model accuracy, memory usage, and processing speed.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06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3344-9453-A55F-8AF5-D5F89120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303F5-6676-32BF-87C3-528221430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dirty="0" err="1">
                <a:latin typeface="Times New Roman"/>
                <a:cs typeface="Times New Roman"/>
              </a:rPr>
              <a:t>Espressif</a:t>
            </a:r>
            <a:r>
              <a:rPr lang="en-US" sz="1200" dirty="0">
                <a:latin typeface="Times New Roman"/>
                <a:cs typeface="Times New Roman"/>
              </a:rPr>
              <a:t> Systems, “ESP32 Technical Reference Manual,” </a:t>
            </a:r>
            <a:r>
              <a:rPr lang="en-US" sz="1200" dirty="0" err="1">
                <a:latin typeface="Times New Roman"/>
                <a:cs typeface="Times New Roman"/>
              </a:rPr>
              <a:t>Espressif</a:t>
            </a:r>
            <a:r>
              <a:rPr lang="en-US" sz="1200" dirty="0">
                <a:latin typeface="Times New Roman"/>
                <a:cs typeface="Times New Roman"/>
              </a:rPr>
              <a:t> Systems, 2024.</a:t>
            </a:r>
          </a:p>
          <a:p>
            <a:r>
              <a:rPr lang="en" sz="1200">
                <a:latin typeface="Times New Roman"/>
                <a:cs typeface="Times New Roman"/>
              </a:rPr>
              <a:t>Semtech Corporation, “SX1261/2 Data Sheet,” Semtech Corporation, 2023.</a:t>
            </a:r>
            <a:endParaRPr lang="en-US" sz="1200">
              <a:latin typeface="Times New Roman"/>
              <a:cs typeface="Times New Roman"/>
            </a:endParaRPr>
          </a:p>
          <a:p>
            <a:r>
              <a:rPr lang="en-US" sz="1200" dirty="0">
                <a:latin typeface="Times New Roman"/>
                <a:cs typeface="Times New Roman"/>
              </a:rPr>
              <a:t>LVGL, “LVGL Graphics Library Documentation.” [Online]. Available: </a:t>
            </a:r>
            <a:r>
              <a:rPr lang="en-US" sz="1200" u="sng" dirty="0"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https://lvgl.io</a:t>
            </a:r>
            <a:r>
              <a:rPr lang="en-US" sz="1200" dirty="0">
                <a:latin typeface="Times New Roman"/>
                <a:cs typeface="Times New Roman"/>
              </a:rPr>
              <a:t> </a:t>
            </a:r>
            <a:r>
              <a:rPr lang="en-US" sz="1200" dirty="0" err="1">
                <a:latin typeface="Times New Roman"/>
                <a:cs typeface="Times New Roman"/>
              </a:rPr>
              <a:t>LovyanGFX</a:t>
            </a:r>
            <a:r>
              <a:rPr lang="en-US" sz="1200" dirty="0">
                <a:latin typeface="Times New Roman"/>
                <a:cs typeface="Times New Roman"/>
              </a:rPr>
              <a:t>, “</a:t>
            </a:r>
            <a:r>
              <a:rPr lang="en-US" sz="1200" dirty="0" err="1">
                <a:latin typeface="Times New Roman"/>
                <a:cs typeface="Times New Roman"/>
              </a:rPr>
              <a:t>LovyanGFX</a:t>
            </a:r>
            <a:r>
              <a:rPr lang="en-US" sz="1200" dirty="0">
                <a:latin typeface="Times New Roman"/>
                <a:cs typeface="Times New Roman"/>
              </a:rPr>
              <a:t> Graphics Library for ESP32.” [Online]. Available: </a:t>
            </a:r>
            <a:r>
              <a:rPr lang="en-US" sz="1200" u="sng" dirty="0">
                <a:latin typeface="Times New Roman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https://github.com/lovyan03/LovyanGFX</a:t>
            </a:r>
            <a:endParaRPr lang="en-US" sz="1200" dirty="0">
              <a:latin typeface="Time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 err="1">
                <a:latin typeface="Times New Roman"/>
                <a:cs typeface="Times New Roman"/>
              </a:rPr>
              <a:t>OpenWeatherMap</a:t>
            </a:r>
            <a:r>
              <a:rPr lang="en-US" sz="1200" dirty="0">
                <a:latin typeface="Times New Roman"/>
                <a:cs typeface="Times New Roman"/>
              </a:rPr>
              <a:t>, “Current Weather Data API.” [Online]. Available: </a:t>
            </a:r>
            <a:r>
              <a:rPr lang="en-US" sz="1200" u="sng" dirty="0">
                <a:latin typeface="Times New Roman"/>
                <a:cs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https://openweathermap.org/api</a:t>
            </a:r>
            <a:endParaRPr lang="en-US" sz="1200" dirty="0">
              <a:latin typeface="Time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latin typeface="Times New Roman"/>
                <a:cs typeface="Times New Roman"/>
              </a:rPr>
              <a:t>Arduino Documentation, “</a:t>
            </a:r>
            <a:r>
              <a:rPr lang="en-US" sz="1200" dirty="0" err="1">
                <a:latin typeface="Times New Roman"/>
                <a:cs typeface="Times New Roman"/>
              </a:rPr>
              <a:t>WiFi</a:t>
            </a:r>
            <a:r>
              <a:rPr lang="en-US" sz="1200" dirty="0">
                <a:latin typeface="Times New Roman"/>
                <a:cs typeface="Times New Roman"/>
              </a:rPr>
              <a:t> Web Server Example.” [Online]. Available: </a:t>
            </a:r>
            <a:r>
              <a:rPr lang="en-US" sz="1200" u="sng" dirty="0"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https://www.arduino.cc</a:t>
            </a:r>
            <a:endParaRPr lang="en-US" sz="1200" dirty="0">
              <a:latin typeface="Time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 err="1">
                <a:latin typeface="Times New Roman"/>
                <a:cs typeface="Times New Roman"/>
              </a:rPr>
              <a:t>Elecrow</a:t>
            </a:r>
            <a:r>
              <a:rPr lang="en-US" sz="1200" dirty="0">
                <a:latin typeface="Times New Roman"/>
                <a:cs typeface="Times New Roman"/>
              </a:rPr>
              <a:t>, “ESP32-S3 7-inch Display Documentation.” [Online]. Available: </a:t>
            </a:r>
            <a:r>
              <a:rPr lang="en-US" sz="1200" u="sng" dirty="0">
                <a:latin typeface="Times New Roman"/>
                <a:cs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https://www.elecrow.com</a:t>
            </a:r>
            <a:endParaRPr lang="en-US" sz="1200" dirty="0">
              <a:latin typeface="Time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 err="1">
                <a:latin typeface="Times New Roman"/>
                <a:cs typeface="Times New Roman"/>
              </a:rPr>
              <a:t>Heltec</a:t>
            </a:r>
            <a:r>
              <a:rPr lang="en-US" sz="1200" dirty="0">
                <a:latin typeface="Times New Roman"/>
                <a:cs typeface="Times New Roman"/>
              </a:rPr>
              <a:t> Automation, “</a:t>
            </a:r>
            <a:r>
              <a:rPr lang="en-US" sz="1200" dirty="0" err="1">
                <a:latin typeface="Times New Roman"/>
                <a:cs typeface="Times New Roman"/>
              </a:rPr>
              <a:t>WiFi</a:t>
            </a:r>
            <a:r>
              <a:rPr lang="en-US" sz="1200" dirty="0">
                <a:latin typeface="Times New Roman"/>
                <a:cs typeface="Times New Roman"/>
              </a:rPr>
              <a:t> LoRa 32 Documentation.” [Online]. Available: </a:t>
            </a:r>
            <a:r>
              <a:rPr lang="en-US" sz="1200" u="sng" dirty="0">
                <a:latin typeface="Times New Roman"/>
                <a:cs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https://heltec.org</a:t>
            </a:r>
            <a:endParaRPr lang="en-US" sz="1200" dirty="0">
              <a:latin typeface="Time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/>
          </a:p>
          <a:p>
            <a:r>
              <a:rPr lang="en-US"/>
              <a:t>Lesson learned: </a:t>
            </a:r>
          </a:p>
        </p:txBody>
      </p:sp>
    </p:spTree>
    <p:extLst>
      <p:ext uri="{BB962C8B-B14F-4D97-AF65-F5344CB8AC3E}">
        <p14:creationId xmlns:p14="http://schemas.microsoft.com/office/powerpoint/2010/main" val="2065436033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win32_LW_v8" id="{3A4E34A6-668B-44CB-918B-D16B4D66424F}" vid="{9B1B68C5-1665-4FCB-8595-B203B3662C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99ED26-B189-4BA1-99D0-1112D8C2F10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AF6374-A7FD-4717-AFE0-646B462CEB63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Northern lights</vt:lpstr>
      <vt:lpstr>Smart-Hub dashboard Device ece436-Internet of things</vt:lpstr>
      <vt:lpstr>Introduction</vt:lpstr>
      <vt:lpstr>Method and strategy-Our First Design</vt:lpstr>
      <vt:lpstr>Method and strategy-Architecture </vt:lpstr>
      <vt:lpstr>Method and strategy-Architecture The main hub   </vt:lpstr>
      <vt:lpstr>Method and strategy-Communication  Technologies   </vt:lpstr>
      <vt:lpstr>• BLE used for nearby device scanning • RSSI monitoring for nearby devices • Smartwatch detection support • Wi-Fi used for web server communication • Apple Shortcut battery updates • Remote dashboard interaction </vt:lpstr>
      <vt:lpstr>Method and strategy-Display</vt:lpstr>
      <vt:lpstr>Method and strateg- Camera and Hand gesture</vt:lpstr>
      <vt:lpstr>Method and strategy-Camera and Hand gesture </vt:lpstr>
      <vt:lpstr>Web Server and Remote Controller</vt:lpstr>
      <vt:lpstr>Power measurements and lifetime calculation</vt:lpstr>
      <vt:lpstr>Evaluation and Verification-LoRa Communication</vt:lpstr>
      <vt:lpstr>Evaluation and Verification-hand gesture camera</vt:lpstr>
      <vt:lpstr>Summary and conclusions</vt:lpstr>
      <vt:lpstr>Lesson learned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110</cp:revision>
  <dcterms:created xsi:type="dcterms:W3CDTF">2026-05-14T15:14:24Z</dcterms:created>
  <dcterms:modified xsi:type="dcterms:W3CDTF">2026-05-22T00:24:48Z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